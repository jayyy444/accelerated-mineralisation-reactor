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Open Sans" panose="020B0604020202020204" charset="0"/>
      <p:regular r:id="rId13"/>
      <p:bold r:id="rId14"/>
      <p:italic r:id="rId15"/>
      <p:boldItalic r:id="rId16"/>
    </p:embeddedFont>
    <p:embeddedFont>
      <p:font typeface="Bitter Medium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8F0"/>
    <a:srgbClr val="8D9492"/>
    <a:srgbClr val="D2C5B5"/>
    <a:srgbClr val="FCE2CF"/>
    <a:srgbClr val="C55A11"/>
    <a:srgbClr val="0A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7" d="100"/>
          <a:sy n="77" d="100"/>
        </p:scale>
        <p:origin x="54" y="-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9T14:44:18.3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21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8097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Turning Steel Waste into Permanent Carbon Storage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838694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 Circular Economy Solution for Decarbonising Steel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5312807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Team: The Glitch Syndicate.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93790" y="5858232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Challenge: </a:t>
            </a:r>
            <a:r>
              <a:rPr lang="en-US" sz="140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Decarbonising</a:t>
            </a:r>
            <a:r>
              <a:rPr lang="en-US" sz="14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Steel Industry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8423" y="887849"/>
            <a:ext cx="7707154" cy="128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The Problem: Steel's Carbon Footprint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8423" y="2478524"/>
            <a:ext cx="3750945" cy="1885117"/>
          </a:xfrm>
          <a:prstGeom prst="roundRect">
            <a:avLst>
              <a:gd name="adj" fmla="val 5821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95563" y="2478524"/>
            <a:ext cx="91440" cy="1885117"/>
          </a:xfrm>
          <a:prstGeom prst="roundRect">
            <a:avLst>
              <a:gd name="adj" fmla="val 94292"/>
            </a:avLst>
          </a:prstGeom>
          <a:solidFill>
            <a:srgbClr val="D2600F"/>
          </a:solidFill>
          <a:ln/>
        </p:spPr>
      </p:sp>
      <p:sp>
        <p:nvSpPr>
          <p:cNvPr id="6" name="Text 3"/>
          <p:cNvSpPr/>
          <p:nvPr/>
        </p:nvSpPr>
        <p:spPr>
          <a:xfrm>
            <a:off x="1015127" y="2706648"/>
            <a:ext cx="3132415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Significant CO2 Emissions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15127" y="3150394"/>
            <a:ext cx="3226118" cy="65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7-9% of all global CO2 emissions come from producing steel.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674632" y="2478524"/>
            <a:ext cx="3750945" cy="1885117"/>
          </a:xfrm>
          <a:prstGeom prst="roundRect">
            <a:avLst>
              <a:gd name="adj" fmla="val 5821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51772" y="2478524"/>
            <a:ext cx="91440" cy="1885117"/>
          </a:xfrm>
          <a:prstGeom prst="roundRect">
            <a:avLst>
              <a:gd name="adj" fmla="val 94292"/>
            </a:avLst>
          </a:prstGeom>
          <a:solidFill>
            <a:srgbClr val="D2600F"/>
          </a:solidFill>
          <a:ln/>
        </p:spPr>
      </p:sp>
      <p:sp>
        <p:nvSpPr>
          <p:cNvPr id="10" name="Text 7"/>
          <p:cNvSpPr/>
          <p:nvPr/>
        </p:nvSpPr>
        <p:spPr>
          <a:xfrm>
            <a:off x="4971336" y="2706648"/>
            <a:ext cx="2566035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Steel Slag Waste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971336" y="3150394"/>
            <a:ext cx="3226118" cy="985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India alone produces 20+ Mt of steel slag annually which is typically landfilled.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18423" y="4568904"/>
            <a:ext cx="3750945" cy="1885117"/>
          </a:xfrm>
          <a:prstGeom prst="roundRect">
            <a:avLst>
              <a:gd name="adj" fmla="val 5821"/>
            </a:avLst>
          </a:prstGeom>
          <a:solidFill>
            <a:srgbClr val="FFF8F0"/>
          </a:solidFill>
          <a:ln w="22860">
            <a:solidFill>
              <a:srgbClr val="E2C8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5563" y="4568904"/>
            <a:ext cx="91440" cy="1885117"/>
          </a:xfrm>
          <a:prstGeom prst="roundRect">
            <a:avLst>
              <a:gd name="adj" fmla="val 94292"/>
            </a:avLst>
          </a:prstGeom>
          <a:solidFill>
            <a:srgbClr val="D2600F"/>
          </a:solidFill>
          <a:ln/>
        </p:spPr>
      </p:sp>
      <p:sp>
        <p:nvSpPr>
          <p:cNvPr id="14" name="Text 11"/>
          <p:cNvSpPr/>
          <p:nvPr/>
        </p:nvSpPr>
        <p:spPr>
          <a:xfrm>
            <a:off x="1015127" y="4797028"/>
            <a:ext cx="3198852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Inefficient Carbon Capture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15127" y="5240774"/>
            <a:ext cx="3226118" cy="985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Current carbon capture technologies are expensive and energy-intensive.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18423" y="6684883"/>
            <a:ext cx="7707154" cy="65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industry requires affordable and sustainable technologies for carbon emissions reduction and steel slag valorization to achieve </a:t>
            </a:r>
            <a:r>
              <a:rPr lang="en-US" sz="160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decarbonization</a:t>
            </a: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objectives</a:t>
            </a:r>
            <a:r>
              <a:rPr lang="en-US" sz="1600" dirty="0" smtClean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875" y="411599"/>
            <a:ext cx="8536305" cy="467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Our Solution: Accelerated Mineralisation Reactor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3875" y="1178600"/>
            <a:ext cx="13582650" cy="47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50"/>
              </a:lnSpc>
            </a:pP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Accelerated </a:t>
            </a:r>
            <a:r>
              <a:rPr lang="en-US" sz="1600" dirty="0" err="1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Mineralisation</a:t>
            </a:r>
            <a:r>
              <a:rPr lang="en-US" sz="16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Reactor captures industrial flue gas CO2 and reacts it with industrial steel slag waste. It transforms the CO2 and slag into stable carbonates in the process, turning waste into value-added green cement.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3875" y="1825823"/>
            <a:ext cx="4427696" cy="548521"/>
          </a:xfrm>
          <a:prstGeom prst="roundRect">
            <a:avLst>
              <a:gd name="adj" fmla="val 6550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29669" y="1983105"/>
            <a:ext cx="187130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Carbon Capture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101233" y="1825823"/>
            <a:ext cx="4427815" cy="548521"/>
          </a:xfrm>
          <a:prstGeom prst="roundRect">
            <a:avLst>
              <a:gd name="adj" fmla="val 6550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7026" y="1983105"/>
            <a:ext cx="187130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Waste Management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678710" y="1825823"/>
            <a:ext cx="4427815" cy="548521"/>
          </a:xfrm>
          <a:prstGeom prst="roundRect">
            <a:avLst>
              <a:gd name="adj" fmla="val 6550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84503" y="1983105"/>
            <a:ext cx="187130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Revenue Stream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23875" y="2692510"/>
            <a:ext cx="2994065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Process Diagram</a:t>
            </a:r>
            <a:endParaRPr lang="en-US" sz="2350" dirty="0"/>
          </a:p>
        </p:txBody>
      </p:sp>
      <p:sp>
        <p:nvSpPr>
          <p:cNvPr id="12" name="Text 9"/>
          <p:cNvSpPr/>
          <p:nvPr/>
        </p:nvSpPr>
        <p:spPr>
          <a:xfrm>
            <a:off x="1486224" y="7905010"/>
            <a:ext cx="3522558" cy="382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Produce Green Materials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486224" y="3884564"/>
            <a:ext cx="3056082" cy="382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Capture CO2</a:t>
            </a:r>
            <a:endParaRPr lang="en-US" sz="13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xmlns="" id="{E5E1E702-536F-DB84-11D1-8C611A0BD793}"/>
                  </a:ext>
                </a:extLst>
              </p14:cNvPr>
              <p14:cNvContentPartPr/>
              <p14:nvPr/>
            </p14:nvContentPartPr>
            <p14:xfrm>
              <a:off x="14109380" y="1134483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5E1E702-536F-DB84-11D1-8C611A0BD79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103260" y="1128363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19694C72-F517-97F9-098F-EA64B6A0559F}"/>
              </a:ext>
            </a:extLst>
          </p:cNvPr>
          <p:cNvSpPr/>
          <p:nvPr/>
        </p:nvSpPr>
        <p:spPr>
          <a:xfrm>
            <a:off x="12427527" y="7626927"/>
            <a:ext cx="2109294" cy="602673"/>
          </a:xfrm>
          <a:prstGeom prst="rect">
            <a:avLst/>
          </a:prstGeom>
          <a:solidFill>
            <a:srgbClr val="FFF8F0"/>
          </a:solidFill>
          <a:ln>
            <a:solidFill>
              <a:srgbClr val="FFF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Flowchart: Terminator 10">
            <a:extLst>
              <a:ext uri="{FF2B5EF4-FFF2-40B4-BE49-F238E27FC236}">
                <a16:creationId xmlns:a16="http://schemas.microsoft.com/office/drawing/2014/main" xmlns="" id="{FD69E4FB-C40D-79F2-5336-CDD96524EDF2}"/>
              </a:ext>
            </a:extLst>
          </p:cNvPr>
          <p:cNvSpPr/>
          <p:nvPr/>
        </p:nvSpPr>
        <p:spPr>
          <a:xfrm>
            <a:off x="325491" y="3167353"/>
            <a:ext cx="3056082" cy="1436558"/>
          </a:xfrm>
          <a:prstGeom prst="flowChartTerminator">
            <a:avLst/>
          </a:prstGeom>
          <a:solidFill>
            <a:srgbClr val="FCE2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50" dirty="0">
                <a:solidFill>
                  <a:schemeClr val="tx1">
                    <a:lumMod val="85000"/>
                    <a:lumOff val="15000"/>
                  </a:schemeClr>
                </a:solidFill>
                <a:latin typeface="Bitter Medium" panose="020B0604020202020204" charset="0"/>
              </a:rPr>
              <a:t>Capture Co2</a:t>
            </a:r>
          </a:p>
        </p:txBody>
      </p:sp>
      <p:sp>
        <p:nvSpPr>
          <p:cNvPr id="20" name="Flowchart: Terminator 19">
            <a:extLst>
              <a:ext uri="{FF2B5EF4-FFF2-40B4-BE49-F238E27FC236}">
                <a16:creationId xmlns:a16="http://schemas.microsoft.com/office/drawing/2014/main" xmlns="" id="{6D973EB6-D0B9-FF1A-C04D-9AB065B0F5BA}"/>
              </a:ext>
            </a:extLst>
          </p:cNvPr>
          <p:cNvSpPr/>
          <p:nvPr/>
        </p:nvSpPr>
        <p:spPr>
          <a:xfrm>
            <a:off x="3959404" y="3174226"/>
            <a:ext cx="3056082" cy="1436558"/>
          </a:xfrm>
          <a:prstGeom prst="flowChartTerminator">
            <a:avLst/>
          </a:prstGeom>
          <a:solidFill>
            <a:srgbClr val="FCE2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50" dirty="0">
                <a:solidFill>
                  <a:schemeClr val="tx1">
                    <a:lumMod val="85000"/>
                    <a:lumOff val="15000"/>
                  </a:schemeClr>
                </a:solidFill>
                <a:latin typeface="Bitter Medium" panose="020B0604020202020204" charset="0"/>
              </a:rPr>
              <a:t>React with Slag</a:t>
            </a:r>
          </a:p>
        </p:txBody>
      </p:sp>
      <p:sp>
        <p:nvSpPr>
          <p:cNvPr id="21" name="Flowchart: Terminator 20">
            <a:extLst>
              <a:ext uri="{FF2B5EF4-FFF2-40B4-BE49-F238E27FC236}">
                <a16:creationId xmlns:a16="http://schemas.microsoft.com/office/drawing/2014/main" xmlns="" id="{2B8270FD-F7BD-35C3-4C46-C26BAF9995FC}"/>
              </a:ext>
            </a:extLst>
          </p:cNvPr>
          <p:cNvSpPr/>
          <p:nvPr/>
        </p:nvSpPr>
        <p:spPr>
          <a:xfrm>
            <a:off x="7593317" y="3167353"/>
            <a:ext cx="3056082" cy="1436558"/>
          </a:xfrm>
          <a:prstGeom prst="flowChartTerminator">
            <a:avLst/>
          </a:prstGeom>
          <a:solidFill>
            <a:srgbClr val="FCE2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50" dirty="0">
                <a:solidFill>
                  <a:schemeClr val="tx1">
                    <a:lumMod val="85000"/>
                    <a:lumOff val="15000"/>
                  </a:schemeClr>
                </a:solidFill>
                <a:latin typeface="Bitter Medium" panose="020B0604020202020204" charset="0"/>
              </a:rPr>
              <a:t>From Carbonates</a:t>
            </a:r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xmlns="" id="{E44306C6-FFAB-20D5-1BDE-AEA4B9CFFAAD}"/>
              </a:ext>
            </a:extLst>
          </p:cNvPr>
          <p:cNvSpPr/>
          <p:nvPr/>
        </p:nvSpPr>
        <p:spPr>
          <a:xfrm>
            <a:off x="11281063" y="3174226"/>
            <a:ext cx="3056082" cy="1436558"/>
          </a:xfrm>
          <a:prstGeom prst="flowChartTerminator">
            <a:avLst/>
          </a:prstGeom>
          <a:solidFill>
            <a:srgbClr val="FCE2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Produce </a:t>
            </a:r>
            <a:r>
              <a:rPr lang="en-IN" sz="1450" dirty="0">
                <a:solidFill>
                  <a:schemeClr val="tx1">
                    <a:lumMod val="85000"/>
                    <a:lumOff val="15000"/>
                  </a:schemeClr>
                </a:solidFill>
                <a:latin typeface="Bitter Medium" panose="020B0604020202020204" charset="0"/>
              </a:rPr>
              <a:t>Green</a:t>
            </a:r>
            <a:r>
              <a:rPr lang="en-IN" sz="14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Materials</a:t>
            </a: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xmlns="" id="{71162D7D-EEA3-0B68-8DD2-F5BDC693D499}"/>
              </a:ext>
            </a:extLst>
          </p:cNvPr>
          <p:cNvSpPr/>
          <p:nvPr/>
        </p:nvSpPr>
        <p:spPr>
          <a:xfrm>
            <a:off x="3517515" y="3447444"/>
            <a:ext cx="305946" cy="945137"/>
          </a:xfrm>
          <a:prstGeom prst="chevron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xmlns="" id="{F9DF3C91-D735-274A-FA16-47EA4FD19920}"/>
              </a:ext>
            </a:extLst>
          </p:cNvPr>
          <p:cNvSpPr/>
          <p:nvPr/>
        </p:nvSpPr>
        <p:spPr>
          <a:xfrm>
            <a:off x="10812258" y="3413063"/>
            <a:ext cx="305946" cy="945137"/>
          </a:xfrm>
          <a:prstGeom prst="chevron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xmlns="" id="{4656C855-82E8-7E31-EC28-55FB57837551}"/>
              </a:ext>
            </a:extLst>
          </p:cNvPr>
          <p:cNvSpPr/>
          <p:nvPr/>
        </p:nvSpPr>
        <p:spPr>
          <a:xfrm>
            <a:off x="7151428" y="3419936"/>
            <a:ext cx="305946" cy="945137"/>
          </a:xfrm>
          <a:prstGeom prst="chevron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5" name="Rectangle: Diagonal Corners Rounded 34">
            <a:extLst>
              <a:ext uri="{FF2B5EF4-FFF2-40B4-BE49-F238E27FC236}">
                <a16:creationId xmlns:a16="http://schemas.microsoft.com/office/drawing/2014/main" xmlns="" id="{10F18B1B-12DE-2E1A-F6D8-21217EE788D4}"/>
              </a:ext>
            </a:extLst>
          </p:cNvPr>
          <p:cNvSpPr/>
          <p:nvPr/>
        </p:nvSpPr>
        <p:spPr>
          <a:xfrm>
            <a:off x="1853532" y="5198623"/>
            <a:ext cx="4339070" cy="2602392"/>
          </a:xfrm>
          <a:prstGeom prst="round2DiagRect">
            <a:avLst/>
          </a:prstGeom>
          <a:solidFill>
            <a:srgbClr val="FCE2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dirty="0">
                <a:solidFill>
                  <a:schemeClr val="tx1"/>
                </a:solidFill>
              </a:rPr>
              <a:t>Steel plant </a:t>
            </a:r>
            <a:r>
              <a:rPr lang="en-IN" sz="1700" dirty="0">
                <a:solidFill>
                  <a:schemeClr val="tx1"/>
                </a:solidFill>
              </a:rPr>
              <a:t>generates </a:t>
            </a:r>
            <a:r>
              <a:rPr lang="en-IN" sz="1700" dirty="0">
                <a:solidFill>
                  <a:schemeClr val="tx1"/>
                </a:solidFill>
              </a:rPr>
              <a:t>slag (waste).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dirty="0">
                <a:solidFill>
                  <a:schemeClr val="tx1"/>
                </a:solidFill>
              </a:rPr>
              <a:t>Flue gases (CO₂) </a:t>
            </a:r>
            <a:r>
              <a:rPr lang="en-IN" sz="1700" dirty="0">
                <a:solidFill>
                  <a:schemeClr val="tx1"/>
                </a:solidFill>
              </a:rPr>
              <a:t>routed </a:t>
            </a:r>
            <a:r>
              <a:rPr lang="en-IN" sz="1700" dirty="0" smtClean="0">
                <a:solidFill>
                  <a:schemeClr val="tx1"/>
                </a:solidFill>
              </a:rPr>
              <a:t>to mineralisation </a:t>
            </a:r>
            <a:r>
              <a:rPr lang="en-IN" sz="1700" dirty="0">
                <a:solidFill>
                  <a:schemeClr val="tx1"/>
                </a:solidFill>
              </a:rPr>
              <a:t>reactor.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dirty="0">
                <a:solidFill>
                  <a:schemeClr val="tx1"/>
                </a:solidFill>
              </a:rPr>
              <a:t>Slag reacts → calcium carbonates </a:t>
            </a:r>
            <a:r>
              <a:rPr lang="en-IN" sz="1700" dirty="0" smtClean="0">
                <a:solidFill>
                  <a:schemeClr val="tx1"/>
                </a:solidFill>
              </a:rPr>
              <a:t>(</a:t>
            </a:r>
            <a:r>
              <a:rPr lang="en-IN" sz="1700" dirty="0" smtClean="0">
                <a:solidFill>
                  <a:schemeClr val="tx1"/>
                </a:solidFill>
              </a:rPr>
              <a:t>cap</a:t>
            </a:r>
            <a:r>
              <a:rPr lang="en-IN" sz="1700" dirty="0" smtClean="0">
                <a:solidFill>
                  <a:schemeClr val="tx1"/>
                </a:solidFill>
              </a:rPr>
              <a:t>s </a:t>
            </a:r>
            <a:r>
              <a:rPr lang="en-IN" sz="1700" dirty="0">
                <a:solidFill>
                  <a:schemeClr val="tx1"/>
                </a:solidFill>
              </a:rPr>
              <a:t>CO₂).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700" dirty="0" smtClean="0">
                <a:solidFill>
                  <a:schemeClr val="tx1"/>
                </a:solidFill>
              </a:rPr>
              <a:t>Product</a:t>
            </a:r>
            <a:r>
              <a:rPr lang="en-IN" sz="1700" dirty="0" smtClean="0">
                <a:solidFill>
                  <a:schemeClr val="tx1"/>
                </a:solidFill>
              </a:rPr>
              <a:t>: </a:t>
            </a:r>
            <a:r>
              <a:rPr lang="en-IN" sz="1700" dirty="0">
                <a:solidFill>
                  <a:schemeClr val="tx1"/>
                </a:solidFill>
              </a:rPr>
              <a:t>Eco-construction materials.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xmlns="" id="{8A38A4BB-B089-79CC-50EB-F3818FC09110}"/>
              </a:ext>
            </a:extLst>
          </p:cNvPr>
          <p:cNvSpPr/>
          <p:nvPr/>
        </p:nvSpPr>
        <p:spPr>
          <a:xfrm>
            <a:off x="2173455" y="5278574"/>
            <a:ext cx="2994065" cy="374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600" b="1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How it works</a:t>
            </a:r>
            <a:endParaRPr lang="en-US" sz="1600" b="1" dirty="0"/>
          </a:p>
        </p:txBody>
      </p:sp>
      <p:sp>
        <p:nvSpPr>
          <p:cNvPr id="40" name="Rectangle: Diagonal Corners Rounded 39">
            <a:extLst>
              <a:ext uri="{FF2B5EF4-FFF2-40B4-BE49-F238E27FC236}">
                <a16:creationId xmlns:a16="http://schemas.microsoft.com/office/drawing/2014/main" xmlns="" id="{740116BB-B981-B6F0-BF54-BB89FC741386}"/>
              </a:ext>
            </a:extLst>
          </p:cNvPr>
          <p:cNvSpPr/>
          <p:nvPr/>
        </p:nvSpPr>
        <p:spPr>
          <a:xfrm>
            <a:off x="8437798" y="5198623"/>
            <a:ext cx="4339070" cy="2602392"/>
          </a:xfrm>
          <a:prstGeom prst="round2DiagRect">
            <a:avLst/>
          </a:prstGeom>
          <a:solidFill>
            <a:srgbClr val="FCE2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Key Points: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Minimal modification to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current 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plants.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Low CAPEX compared to traditional CCS.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Scalable, modular reactors</a:t>
            </a:r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875" y="411599"/>
            <a:ext cx="5596057" cy="467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Environmental &amp; Market Impact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4656" y="910468"/>
            <a:ext cx="5378161" cy="1167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Environmental Impact: </a:t>
            </a:r>
          </a:p>
          <a:p>
            <a:pPr marL="742950" lvl="1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 ton slag </a:t>
            </a:r>
          </a:p>
          <a:p>
            <a:pPr lvl="1">
              <a:lnSpc>
                <a:spcPts val="2200"/>
              </a:lnSpc>
            </a:pPr>
            <a:endParaRPr lang="en-US" dirty="0">
              <a:solidFill>
                <a:srgbClr val="2C3F42"/>
              </a:solidFill>
              <a:latin typeface="Bitter Medium" pitchFamily="34" charset="0"/>
              <a:ea typeface="Bitter Medium" pitchFamily="34" charset="-122"/>
              <a:cs typeface="Bitter Medium" pitchFamily="34" charset="-120"/>
            </a:endParaRPr>
          </a:p>
          <a:p>
            <a:pPr lvl="1">
              <a:lnSpc>
                <a:spcPts val="2200"/>
              </a:lnSpc>
            </a:pPr>
            <a:endParaRPr lang="en-US" dirty="0">
              <a:solidFill>
                <a:srgbClr val="2C3F42"/>
              </a:solidFill>
              <a:latin typeface="Bitter Medium" pitchFamily="34" charset="0"/>
              <a:ea typeface="Bitter Medium" pitchFamily="34" charset="-122"/>
              <a:cs typeface="Bitter Medium" pitchFamily="34" charset="-120"/>
            </a:endParaRPr>
          </a:p>
          <a:p>
            <a:pPr marL="742950" lvl="1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	If scaled to 50% of India’s slag </a:t>
            </a:r>
          </a:p>
        </p:txBody>
      </p:sp>
      <p:sp>
        <p:nvSpPr>
          <p:cNvPr id="5" name="Text 2"/>
          <p:cNvSpPr/>
          <p:nvPr/>
        </p:nvSpPr>
        <p:spPr>
          <a:xfrm>
            <a:off x="523875" y="8271692"/>
            <a:ext cx="6608802" cy="47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ton of slag captures 300-350 kg of CO2, scaling to 50% of India's slag could lock 6-7 Mt CO2 annually.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23875" y="2952282"/>
            <a:ext cx="2245400" cy="3318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Market Impact: </a:t>
            </a:r>
          </a:p>
          <a:p>
            <a:pPr marL="742950" lvl="1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itter Medium" panose="020B0604020202020204" charset="0"/>
              </a:rPr>
              <a:t>Green construction materials market = $400B+ globally.</a:t>
            </a:r>
          </a:p>
          <a:p>
            <a:pPr lvl="1">
              <a:lnSpc>
                <a:spcPts val="2200"/>
              </a:lnSpc>
            </a:pPr>
            <a:endParaRPr lang="en-US" dirty="0">
              <a:latin typeface="Bitter Medium" panose="020B0604020202020204" charset="0"/>
            </a:endParaRPr>
          </a:p>
          <a:p>
            <a:pPr marL="742950" lvl="1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itter Medium" panose="020B0604020202020204" charset="0"/>
              </a:rPr>
              <a:t>Steel mills </a:t>
            </a:r>
            <a:r>
              <a:rPr lang="en-US" dirty="0" smtClean="0">
                <a:latin typeface="Bitter Medium" panose="020B0604020202020204" charset="0"/>
              </a:rPr>
              <a:t>receive carbon </a:t>
            </a:r>
            <a:r>
              <a:rPr lang="en-US" dirty="0">
                <a:latin typeface="Bitter Medium" panose="020B0604020202020204" charset="0"/>
              </a:rPr>
              <a:t>credits + new revenue.</a:t>
            </a:r>
          </a:p>
          <a:p>
            <a:pPr lvl="1">
              <a:lnSpc>
                <a:spcPts val="2200"/>
              </a:lnSpc>
            </a:pPr>
            <a:endParaRPr lang="en-US" dirty="0">
              <a:latin typeface="Bitter Medium" panose="020B0604020202020204" charset="0"/>
            </a:endParaRPr>
          </a:p>
          <a:p>
            <a:pPr marL="742950" lvl="1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Bitter Medium" panose="020B0604020202020204" charset="0"/>
              </a:rPr>
              <a:t>Aligns with India’s Net Zero 2070 goals.</a:t>
            </a:r>
          </a:p>
          <a:p>
            <a:pPr marL="0" indent="0" algn="l">
              <a:lnSpc>
                <a:spcPts val="2200"/>
              </a:lnSpc>
              <a:buNone/>
            </a:pPr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371" y="1620798"/>
            <a:ext cx="6608802" cy="66088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05343" y="8271692"/>
            <a:ext cx="6608802" cy="478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green construction materials market worth $400B+ globally, steel plants gain carbon credits and new revenue streams, aligns with India's Net Zero 2070 goals.</a:t>
            </a:r>
            <a:endParaRPr lang="en-US" sz="1200" dirty="0"/>
          </a:p>
        </p:txBody>
      </p:sp>
      <p:sp>
        <p:nvSpPr>
          <p:cNvPr id="4" name="Arrow: Bent-Up 3">
            <a:extLst>
              <a:ext uri="{FF2B5EF4-FFF2-40B4-BE49-F238E27FC236}">
                <a16:creationId xmlns:a16="http://schemas.microsoft.com/office/drawing/2014/main" xmlns="" id="{3CB98B2F-B055-A058-B7D2-58CADE8BD5C3}"/>
              </a:ext>
            </a:extLst>
          </p:cNvPr>
          <p:cNvSpPr/>
          <p:nvPr/>
        </p:nvSpPr>
        <p:spPr>
          <a:xfrm rot="5400000">
            <a:off x="1657394" y="1416349"/>
            <a:ext cx="311727" cy="467678"/>
          </a:xfrm>
          <a:prstGeom prst="bentUpArrow">
            <a:avLst/>
          </a:prstGeom>
          <a:solidFill>
            <a:srgbClr val="D2C5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602E5230-2DE9-1BA6-18F7-101C0F4EA768}"/>
              </a:ext>
            </a:extLst>
          </p:cNvPr>
          <p:cNvSpPr txBox="1"/>
          <p:nvPr/>
        </p:nvSpPr>
        <p:spPr>
          <a:xfrm>
            <a:off x="2047097" y="1536634"/>
            <a:ext cx="34579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sequesters </a:t>
            </a:r>
            <a:r>
              <a:rPr lang="en-US" sz="20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300–350 kg CO₂</a:t>
            </a:r>
            <a:endParaRPr lang="en-IN" sz="2000" dirty="0"/>
          </a:p>
        </p:txBody>
      </p:sp>
      <p:sp>
        <p:nvSpPr>
          <p:cNvPr id="11" name="Arrow: Bent-Up 10">
            <a:extLst>
              <a:ext uri="{FF2B5EF4-FFF2-40B4-BE49-F238E27FC236}">
                <a16:creationId xmlns:a16="http://schemas.microsoft.com/office/drawing/2014/main" xmlns="" id="{71DFA75A-08D5-C384-DD63-A1016CB23CEF}"/>
              </a:ext>
            </a:extLst>
          </p:cNvPr>
          <p:cNvSpPr/>
          <p:nvPr/>
        </p:nvSpPr>
        <p:spPr>
          <a:xfrm rot="5400000">
            <a:off x="1657392" y="2313898"/>
            <a:ext cx="311727" cy="467678"/>
          </a:xfrm>
          <a:prstGeom prst="bentUpArrow">
            <a:avLst/>
          </a:prstGeom>
          <a:solidFill>
            <a:srgbClr val="D2C5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91C02DA-0118-25A5-1711-C9B1EA169243}"/>
              </a:ext>
            </a:extLst>
          </p:cNvPr>
          <p:cNvSpPr txBox="1"/>
          <p:nvPr/>
        </p:nvSpPr>
        <p:spPr>
          <a:xfrm>
            <a:off x="2047095" y="2421334"/>
            <a:ext cx="3491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6–7 Mt CO₂ locked annually.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159AB65B-7430-D338-0B10-F5B5E61CD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830" y="4790438"/>
            <a:ext cx="6040190" cy="32229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2213" y="442317"/>
            <a:ext cx="4668083" cy="501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Next Steps &amp; Partnership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62213" y="1185267"/>
            <a:ext cx="3871555" cy="40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Implementation Timeline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742950" y="1827848"/>
            <a:ext cx="22860" cy="2620566"/>
          </a:xfrm>
          <a:prstGeom prst="roundRect">
            <a:avLst>
              <a:gd name="adj" fmla="val 295172"/>
            </a:avLst>
          </a:prstGeom>
          <a:solidFill>
            <a:srgbClr val="E2C8B5"/>
          </a:solidFill>
          <a:ln/>
        </p:spPr>
      </p:sp>
      <p:sp>
        <p:nvSpPr>
          <p:cNvPr id="6" name="Shape 3"/>
          <p:cNvSpPr/>
          <p:nvPr/>
        </p:nvSpPr>
        <p:spPr>
          <a:xfrm>
            <a:off x="900827" y="1997154"/>
            <a:ext cx="481965" cy="22860"/>
          </a:xfrm>
          <a:prstGeom prst="roundRect">
            <a:avLst>
              <a:gd name="adj" fmla="val 295172"/>
            </a:avLst>
          </a:prstGeom>
          <a:solidFill>
            <a:srgbClr val="E2C8B5"/>
          </a:solidFill>
          <a:ln/>
        </p:spPr>
      </p:sp>
      <p:sp>
        <p:nvSpPr>
          <p:cNvPr id="7" name="Shape 4"/>
          <p:cNvSpPr/>
          <p:nvPr/>
        </p:nvSpPr>
        <p:spPr>
          <a:xfrm>
            <a:off x="562213" y="1827848"/>
            <a:ext cx="361474" cy="361474"/>
          </a:xfrm>
          <a:prstGeom prst="roundRect">
            <a:avLst>
              <a:gd name="adj" fmla="val 18667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2459" y="1857970"/>
            <a:ext cx="24098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546146" y="1882973"/>
            <a:ext cx="2215396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Phase 1: Build Prototype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546146" y="2230279"/>
            <a:ext cx="7035641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</a:t>
            </a: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and test a lab-scale reactor prototype.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00827" y="2977753"/>
            <a:ext cx="481965" cy="22860"/>
          </a:xfrm>
          <a:prstGeom prst="roundRect">
            <a:avLst>
              <a:gd name="adj" fmla="val 295172"/>
            </a:avLst>
          </a:prstGeom>
          <a:solidFill>
            <a:srgbClr val="E2C8B5"/>
          </a:solidFill>
          <a:ln/>
        </p:spPr>
      </p:sp>
      <p:sp>
        <p:nvSpPr>
          <p:cNvPr id="12" name="Shape 9"/>
          <p:cNvSpPr/>
          <p:nvPr/>
        </p:nvSpPr>
        <p:spPr>
          <a:xfrm>
            <a:off x="562213" y="2808446"/>
            <a:ext cx="361474" cy="361474"/>
          </a:xfrm>
          <a:prstGeom prst="roundRect">
            <a:avLst>
              <a:gd name="adj" fmla="val 18667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2459" y="2838569"/>
            <a:ext cx="24098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1546146" y="2863572"/>
            <a:ext cx="2079546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Phase 2: Pilot Program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1546146" y="3210877"/>
            <a:ext cx="7035641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Partner with a steel plant for a pilot program to validate performance.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00827" y="3958352"/>
            <a:ext cx="481965" cy="22860"/>
          </a:xfrm>
          <a:prstGeom prst="roundRect">
            <a:avLst>
              <a:gd name="adj" fmla="val 295172"/>
            </a:avLst>
          </a:prstGeom>
          <a:solidFill>
            <a:srgbClr val="E2C8B5"/>
          </a:solidFill>
          <a:ln/>
        </p:spPr>
      </p:sp>
      <p:sp>
        <p:nvSpPr>
          <p:cNvPr id="17" name="Shape 14"/>
          <p:cNvSpPr/>
          <p:nvPr/>
        </p:nvSpPr>
        <p:spPr>
          <a:xfrm>
            <a:off x="562213" y="3789045"/>
            <a:ext cx="361474" cy="361474"/>
          </a:xfrm>
          <a:prstGeom prst="roundRect">
            <a:avLst>
              <a:gd name="adj" fmla="val 18667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2459" y="3819168"/>
            <a:ext cx="24098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8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1546146" y="3844171"/>
            <a:ext cx="2379464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Phase 3: Scale Operations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1546146" y="4191476"/>
            <a:ext cx="7035641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Scale operations through industry licensing and commercial </a:t>
            </a: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roll-out.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62213" y="4689396"/>
            <a:ext cx="3213140" cy="40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What We Need</a:t>
            </a:r>
            <a:endParaRPr lang="en-US" sz="2500" dirty="0"/>
          </a:p>
        </p:txBody>
      </p:sp>
      <p:sp>
        <p:nvSpPr>
          <p:cNvPr id="22" name="Shape 19"/>
          <p:cNvSpPr/>
          <p:nvPr/>
        </p:nvSpPr>
        <p:spPr>
          <a:xfrm>
            <a:off x="562213" y="5417344"/>
            <a:ext cx="80248" cy="80248"/>
          </a:xfrm>
          <a:prstGeom prst="roundRect">
            <a:avLst>
              <a:gd name="adj" fmla="val 569734"/>
            </a:avLst>
          </a:prstGeom>
          <a:solidFill>
            <a:srgbClr val="D2600F"/>
          </a:solidFill>
          <a:ln/>
        </p:spPr>
      </p:sp>
      <p:sp>
        <p:nvSpPr>
          <p:cNvPr id="23" name="Text 20"/>
          <p:cNvSpPr/>
          <p:nvPr/>
        </p:nvSpPr>
        <p:spPr>
          <a:xfrm>
            <a:off x="803077" y="5331976"/>
            <a:ext cx="3175159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Mentorship from industry leaders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803077" y="5679281"/>
            <a:ext cx="7778710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250" dirty="0" smtClean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Direction </a:t>
            </a: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and </a:t>
            </a: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technical experience </a:t>
            </a: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</a:t>
            </a:r>
            <a:r>
              <a:rPr lang="en-US" sz="1250" dirty="0" smtClean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breach </a:t>
            </a: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market entry and technical challenges.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62213" y="6342817"/>
            <a:ext cx="80248" cy="80248"/>
          </a:xfrm>
          <a:prstGeom prst="roundRect">
            <a:avLst>
              <a:gd name="adj" fmla="val 569734"/>
            </a:avLst>
          </a:prstGeom>
          <a:solidFill>
            <a:srgbClr val="D2600F"/>
          </a:solidFill>
          <a:ln/>
        </p:spPr>
      </p:sp>
      <p:sp>
        <p:nvSpPr>
          <p:cNvPr id="26" name="Text 23"/>
          <p:cNvSpPr/>
          <p:nvPr/>
        </p:nvSpPr>
        <p:spPr>
          <a:xfrm>
            <a:off x="803077" y="6257449"/>
            <a:ext cx="2378393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Funding for development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803077" y="6604754"/>
            <a:ext cx="7778710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Capital to accelerate R&amp;D, </a:t>
            </a:r>
            <a:r>
              <a:rPr lang="en-US" sz="1250" dirty="0" smtClean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prototype manufacture, </a:t>
            </a: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and pilot project </a:t>
            </a:r>
            <a:r>
              <a:rPr lang="en-US" sz="1250" dirty="0" smtClean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deployment.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62213" y="7268289"/>
            <a:ext cx="80248" cy="80248"/>
          </a:xfrm>
          <a:prstGeom prst="roundRect">
            <a:avLst>
              <a:gd name="adj" fmla="val 569734"/>
            </a:avLst>
          </a:prstGeom>
          <a:solidFill>
            <a:srgbClr val="D2600F"/>
          </a:solidFill>
          <a:ln/>
        </p:spPr>
      </p:sp>
      <p:sp>
        <p:nvSpPr>
          <p:cNvPr id="29" name="Text 26"/>
          <p:cNvSpPr/>
          <p:nvPr/>
        </p:nvSpPr>
        <p:spPr>
          <a:xfrm>
            <a:off x="803077" y="7182922"/>
            <a:ext cx="2077164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Industry partnerships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803077" y="7530227"/>
            <a:ext cx="7778710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</a:t>
            </a:r>
            <a:r>
              <a:rPr lang="en-US" sz="1250" dirty="0" err="1" smtClean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collabrations</a:t>
            </a:r>
            <a:r>
              <a:rPr lang="en-US" sz="1250" dirty="0" smtClean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steel producers and material </a:t>
            </a:r>
            <a:r>
              <a:rPr lang="en-US" sz="1250" dirty="0" smtClean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suppliers </a:t>
            </a: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adoption and scaling.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55438"/>
            <a:ext cx="69358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 Greener Future for Steel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0437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By transforming </a:t>
            </a:r>
            <a:r>
              <a:rPr lang="en-US" sz="1750" dirty="0" smtClean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steel 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waste into a sustainable </a:t>
            </a:r>
            <a:r>
              <a:rPr lang="en-US" sz="1750" dirty="0" smtClean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 of 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carbon capture and a circular economy, we are </a:t>
            </a:r>
            <a:r>
              <a:rPr lang="en-US" sz="1750" dirty="0" smtClean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shaping 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</a:t>
            </a:r>
            <a:r>
              <a:rPr lang="en-US" sz="1750" dirty="0" smtClean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future 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a more </a:t>
            </a:r>
            <a:r>
              <a:rPr lang="en-US" sz="1750" dirty="0" smtClean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sustainable 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steel industry.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94823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Join us on this journey to innovate and build a truly sustainable future for steel.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484</Words>
  <Application>Microsoft Office PowerPoint</Application>
  <PresentationFormat>Custom</PresentationFormat>
  <Paragraphs>77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Open Sans</vt:lpstr>
      <vt:lpstr>Arial</vt:lpstr>
      <vt:lpstr>Bitter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HARSHAL</cp:lastModifiedBy>
  <cp:revision>12</cp:revision>
  <dcterms:created xsi:type="dcterms:W3CDTF">2025-09-21T13:28:01Z</dcterms:created>
  <dcterms:modified xsi:type="dcterms:W3CDTF">2025-09-30T08:24:45Z</dcterms:modified>
</cp:coreProperties>
</file>